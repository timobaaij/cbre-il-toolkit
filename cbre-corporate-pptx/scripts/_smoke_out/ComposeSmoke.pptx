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12A2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502920"/>
            <a:ext cx="73152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 spc="150">
                <a:solidFill>
                  <a:srgbClr val="D8D898"/>
                </a:solidFill>
                <a:latin typeface="Calibre Semibold"/>
              </a:rPr>
              <a:t>CBRE | ADVISORY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832104"/>
            <a:ext cx="1508760" cy="16459"/>
          </a:xfrm>
          <a:prstGeom prst="rect">
            <a:avLst/>
          </a:prstGeom>
          <a:solidFill>
            <a:srgbClr val="D8D8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265615" y="502920"/>
            <a:ext cx="242316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i="0" spc="200">
                <a:solidFill>
                  <a:srgbClr val="D8D898"/>
                </a:solidFill>
                <a:latin typeface="Space Mono"/>
              </a:rPr>
              <a:t>JUNE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417320"/>
            <a:ext cx="11185855" cy="1920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11000" b="0" i="0">
                <a:solidFill>
                  <a:srgbClr val="FFFFFF"/>
                </a:solidFill>
                <a:latin typeface="Financier Display"/>
              </a:rPr>
              <a:t>A story-led scene deck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611880"/>
            <a:ext cx="8534095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800" b="0" i="0">
                <a:solidFill>
                  <a:srgbClr val="80B8A8"/>
                </a:solidFill>
                <a:latin typeface="Calibre Light"/>
              </a:rPr>
              <a:t>Composed, not poured into recipes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4572000"/>
            <a:ext cx="1280160" cy="16459"/>
          </a:xfrm>
          <a:prstGeom prst="rect">
            <a:avLst/>
          </a:prstGeom>
          <a:solidFill>
            <a:srgbClr val="D8D8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4663440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 spc="240">
                <a:solidFill>
                  <a:srgbClr val="D8D898"/>
                </a:solidFill>
                <a:latin typeface="Calibre Semibold"/>
              </a:rPr>
              <a:t>WHAT'S INSIDE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5029200"/>
            <a:ext cx="54864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0" i="0">
                <a:solidFill>
                  <a:srgbClr val="80B8A8"/>
                </a:solidFill>
                <a:latin typeface="Financier Display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5074920"/>
            <a:ext cx="2202103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 i="0">
                <a:solidFill>
                  <a:srgbClr val="FFFFFF"/>
                </a:solidFill>
                <a:latin typeface="Calibre Light"/>
              </a:rPr>
              <a:t>Context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99383" y="5029200"/>
            <a:ext cx="54864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0" i="0">
                <a:solidFill>
                  <a:srgbClr val="80B8A8"/>
                </a:solidFill>
                <a:latin typeface="Financier Display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02303" y="5074920"/>
            <a:ext cx="2202103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 i="0">
                <a:solidFill>
                  <a:srgbClr val="FFFFFF"/>
                </a:solidFill>
                <a:latin typeface="Calibre Light"/>
              </a:rPr>
              <a:t>The shift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95847" y="5029200"/>
            <a:ext cx="54864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0" i="0">
                <a:solidFill>
                  <a:srgbClr val="80B8A8"/>
                </a:solidFill>
                <a:latin typeface="Financier Display"/>
              </a:rPr>
              <a:t>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98767" y="5074920"/>
            <a:ext cx="2202103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 i="0">
                <a:solidFill>
                  <a:srgbClr val="FFFFFF"/>
                </a:solidFill>
                <a:latin typeface="Calibre Light"/>
              </a:rPr>
              <a:t>Evidence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92311" y="5029200"/>
            <a:ext cx="54864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0" i="0">
                <a:solidFill>
                  <a:srgbClr val="80B8A8"/>
                </a:solidFill>
                <a:latin typeface="Financier Display"/>
              </a:rPr>
              <a:t>04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395231" y="5074920"/>
            <a:ext cx="2202103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 i="0">
                <a:solidFill>
                  <a:srgbClr val="FFFFFF"/>
                </a:solidFill>
                <a:latin typeface="Calibre Light"/>
              </a:rPr>
              <a:t>What it means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6537960"/>
            <a:ext cx="54864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538F86"/>
                </a:solidFill>
                <a:latin typeface="Calibre"/>
              </a:rPr>
              <a:t>Confidential &amp; Proprietary | (c) 2026 CBRE, Inc.</a:t>
            </a:r>
          </a:p>
        </p:txBody>
      </p:sp>
      <p:pic>
        <p:nvPicPr>
          <p:cNvPr id="18" name="Picture 17" descr="cbre-logo-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20095" y="6342230"/>
            <a:ext cx="960120" cy="24145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12A2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6537960"/>
            <a:ext cx="54864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538F86"/>
                </a:solidFill>
                <a:latin typeface="Calibre"/>
              </a:rPr>
              <a:t>Confidential &amp; Proprietary | (c) 2026 CBRE, Inc.</a:t>
            </a:r>
          </a:p>
        </p:txBody>
      </p:sp>
      <p:pic>
        <p:nvPicPr>
          <p:cNvPr id="3" name="Picture 2" descr="cbre-logo-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20095" y="6342230"/>
            <a:ext cx="960120" cy="24145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02920" y="457200"/>
            <a:ext cx="73152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 spc="150">
                <a:solidFill>
                  <a:srgbClr val="D8D898"/>
                </a:solidFill>
                <a:latin typeface="Calibre Semibold"/>
              </a:rPr>
              <a:t>01 | CONTEXT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786384"/>
            <a:ext cx="1508760" cy="16459"/>
          </a:xfrm>
          <a:prstGeom prst="rect">
            <a:avLst/>
          </a:prstGeom>
          <a:solidFill>
            <a:srgbClr val="D8D8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932688"/>
            <a:ext cx="11185855" cy="42291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3000" b="0" i="0">
                <a:solidFill>
                  <a:srgbClr val="FFFFFF"/>
                </a:solidFill>
                <a:latin typeface="Financier Display"/>
              </a:rPr>
              <a:t>The market is consolidating into fewer, larger nodes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483614"/>
            <a:ext cx="11185855" cy="215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 b="0" i="0">
                <a:solidFill>
                  <a:srgbClr val="C0D0C8"/>
                </a:solidFill>
                <a:latin typeface="Calibre Light"/>
              </a:rPr>
              <a:t>Demand is migrating, not growing.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281927"/>
            <a:ext cx="1118585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80B8A8"/>
                </a:solidFill>
                <a:latin typeface="Calibre Light"/>
              </a:rPr>
              <a:t>Source: illustrative.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2138426"/>
            <a:ext cx="11185855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 spc="150">
                <a:solidFill>
                  <a:srgbClr val="80B8A8"/>
                </a:solidFill>
                <a:latin typeface="Calibre Semibold"/>
              </a:rPr>
              <a:t>THE SHIFT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2504186"/>
            <a:ext cx="11185855" cy="18709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6000"/>
              </a:lnSpc>
            </a:pPr>
            <a:r>
              <a:rPr sz="1600" b="0" i="0">
                <a:solidFill>
                  <a:srgbClr val="FFFFFF"/>
                </a:solidFill>
                <a:latin typeface="Calibre Light"/>
              </a:rPr>
              <a:t>Occupiers are concentrating volume into a smaller number of larger, better-connected sites, releasing surplus space at the edges. The result is a market that is reshaping rather than expanding, with the action in transfer and reuse rather than new build.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4576305"/>
            <a:ext cx="3484778" cy="71689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4515" b="0" i="0">
                <a:solidFill>
                  <a:srgbClr val="FFFFFF"/>
                </a:solidFill>
                <a:latin typeface="Financier Display"/>
              </a:rPr>
              <a:t>46%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5253054"/>
            <a:ext cx="3484778" cy="69968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200" b="0" i="0">
                <a:solidFill>
                  <a:srgbClr val="80B8A8"/>
                </a:solidFill>
                <a:latin typeface="Calibre Light"/>
              </a:rPr>
              <a:t>of new leases in Tier-2 corridors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53458" y="4576305"/>
            <a:ext cx="3484778" cy="71689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4515" b="0" i="0">
                <a:solidFill>
                  <a:srgbClr val="FFFFFF"/>
                </a:solidFill>
                <a:latin typeface="Financier Display"/>
              </a:rPr>
              <a:t>17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53458" y="5253054"/>
            <a:ext cx="3484778" cy="69968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200" b="0" i="0">
                <a:solidFill>
                  <a:srgbClr val="80B8A8"/>
                </a:solidFill>
                <a:latin typeface="Calibre Light"/>
              </a:rPr>
              <a:t>BTS projects in advanced planning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03996" y="4576305"/>
            <a:ext cx="3484778" cy="71689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4515" b="0" i="0">
                <a:solidFill>
                  <a:srgbClr val="FFFFFF"/>
                </a:solidFill>
                <a:latin typeface="Financier Display"/>
              </a:rPr>
              <a:t>EUR 1.40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03996" y="5253054"/>
            <a:ext cx="3484778" cy="69968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200" b="0" i="0">
                <a:solidFill>
                  <a:srgbClr val="80B8A8"/>
                </a:solidFill>
                <a:latin typeface="Calibre Light"/>
              </a:rPr>
              <a:t>energy premium per sqm vs 2022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6537960"/>
            <a:ext cx="54864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7F8481"/>
                </a:solidFill>
                <a:latin typeface="Calibre"/>
              </a:rPr>
              <a:t>Confidential &amp; Proprietary | (c) 2026 CBRE, Inc.</a:t>
            </a:r>
          </a:p>
        </p:txBody>
      </p:sp>
      <p:pic>
        <p:nvPicPr>
          <p:cNvPr id="3" name="Picture 2" descr="cbre-logo-gree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20095" y="6342230"/>
            <a:ext cx="960120" cy="24145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02920" y="457200"/>
            <a:ext cx="73152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 spc="150">
                <a:solidFill>
                  <a:srgbClr val="0C1C1E"/>
                </a:solidFill>
                <a:latin typeface="Calibre Semibold"/>
              </a:rPr>
              <a:t>02 | OPERATING MODEL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786384"/>
            <a:ext cx="1508760" cy="16459"/>
          </a:xfrm>
          <a:prstGeom prst="rect">
            <a:avLst/>
          </a:prstGeom>
          <a:solidFill>
            <a:srgbClr val="0C1C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932688"/>
            <a:ext cx="11185855" cy="42291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3000" b="0" i="0">
                <a:solidFill>
                  <a:srgbClr val="012A2C"/>
                </a:solidFill>
                <a:latin typeface="Financier Display"/>
              </a:rPr>
              <a:t>Make in-house, move through third parties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794510"/>
            <a:ext cx="7772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300" b="0" i="0">
                <a:solidFill>
                  <a:srgbClr val="538F86"/>
                </a:solidFill>
                <a:latin typeface="Financier Display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17320" y="1794510"/>
            <a:ext cx="4495647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1" i="0">
                <a:solidFill>
                  <a:srgbClr val="0C1C1E"/>
                </a:solidFill>
                <a:latin typeface="Calibre Semibold"/>
              </a:rPr>
              <a:t>Make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17320" y="2123694"/>
            <a:ext cx="4495647" cy="106298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450" b="0" i="0">
                <a:solidFill>
                  <a:srgbClr val="0C1C1E"/>
                </a:solidFill>
                <a:latin typeface="Calibre Light"/>
              </a:rPr>
              <a:t>Regulated in-house manufacturing across a largely owned estate.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3332987"/>
            <a:ext cx="7772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300" b="0" i="0">
                <a:solidFill>
                  <a:srgbClr val="538F86"/>
                </a:solidFill>
                <a:latin typeface="Financier Display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17320" y="3332987"/>
            <a:ext cx="4495647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1" i="0">
                <a:solidFill>
                  <a:srgbClr val="0C1C1E"/>
                </a:solidFill>
                <a:latin typeface="Calibre Semibold"/>
              </a:rPr>
              <a:t>Move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17320" y="3662172"/>
            <a:ext cx="4495647" cy="106298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450" b="0" i="0">
                <a:solidFill>
                  <a:srgbClr val="0C1C1E"/>
                </a:solidFill>
                <a:latin typeface="Calibre Light"/>
              </a:rPr>
              <a:t>Distribution outsourced to 3PLs who hold the occupier leases.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4871465"/>
            <a:ext cx="7772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300" b="0" i="0">
                <a:solidFill>
                  <a:srgbClr val="538F86"/>
                </a:solidFill>
                <a:latin typeface="Financier Display"/>
              </a:rPr>
              <a:t>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17320" y="4871465"/>
            <a:ext cx="4495647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1" i="0">
                <a:solidFill>
                  <a:srgbClr val="0C1C1E"/>
                </a:solidFill>
                <a:latin typeface="Calibre Semibold"/>
              </a:rPr>
              <a:t>Rebalance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17320" y="5200649"/>
            <a:ext cx="4495647" cy="106298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450" b="0" i="0">
                <a:solidFill>
                  <a:srgbClr val="0C1C1E"/>
                </a:solidFill>
                <a:latin typeface="Calibre Light"/>
              </a:rPr>
              <a:t>The network is rebalanced region by region as volumes shift.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78727" y="1794510"/>
            <a:ext cx="5410047" cy="4469129"/>
          </a:xfrm>
          <a:prstGeom prst="rect">
            <a:avLst/>
          </a:prstGeom>
          <a:solidFill>
            <a:srgbClr val="1844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78727" y="1794510"/>
            <a:ext cx="5410047" cy="50292"/>
          </a:xfrm>
          <a:prstGeom prst="rect">
            <a:avLst/>
          </a:prstGeom>
          <a:solidFill>
            <a:srgbClr val="D8D8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34759" y="2096261"/>
            <a:ext cx="4897983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 spc="160">
                <a:solidFill>
                  <a:srgbClr val="D8D898"/>
                </a:solidFill>
                <a:latin typeface="Calibre Semibold"/>
              </a:rPr>
              <a:t>THE LENS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34759" y="2462021"/>
            <a:ext cx="4897983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 spc="100">
                <a:solidFill>
                  <a:srgbClr val="80B8A8"/>
                </a:solidFill>
                <a:latin typeface="Calibre Semibold"/>
              </a:rPr>
              <a:t>TENURE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34759" y="2736341"/>
            <a:ext cx="4897983" cy="31686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750" b="0" i="0">
                <a:solidFill>
                  <a:srgbClr val="F7F7F5"/>
                </a:solidFill>
                <a:latin typeface="Calibre Light"/>
              </a:rPr>
              <a:t>Owned core; small lease book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34759" y="3190366"/>
            <a:ext cx="4897983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 spc="100">
                <a:solidFill>
                  <a:srgbClr val="80B8A8"/>
                </a:solidFill>
                <a:latin typeface="Calibre Semibold"/>
              </a:rPr>
              <a:t>GOVERNANCE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34759" y="3464686"/>
            <a:ext cx="4897983" cy="31686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750" b="0" i="0">
                <a:solidFill>
                  <a:srgbClr val="F7F7F5"/>
                </a:solidFill>
                <a:latin typeface="Calibre Light"/>
              </a:rPr>
              <a:t>Reports to the CFO; lean EMEA team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6537960"/>
            <a:ext cx="54864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7F8481"/>
                </a:solidFill>
                <a:latin typeface="Calibre"/>
              </a:rPr>
              <a:t>Confidential &amp; Proprietary | (c) 2026 CBRE, Inc.</a:t>
            </a:r>
          </a:p>
        </p:txBody>
      </p:sp>
      <p:pic>
        <p:nvPicPr>
          <p:cNvPr id="3" name="Picture 2" descr="cbre-logo-gree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20095" y="6342230"/>
            <a:ext cx="960120" cy="24145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02920" y="457200"/>
            <a:ext cx="73152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 spc="150">
                <a:solidFill>
                  <a:srgbClr val="0C1C1E"/>
                </a:solidFill>
                <a:latin typeface="Calibre Semibold"/>
              </a:rPr>
              <a:t>03 | NETWORK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786384"/>
            <a:ext cx="1508760" cy="16459"/>
          </a:xfrm>
          <a:prstGeom prst="rect">
            <a:avLst/>
          </a:prstGeom>
          <a:solidFill>
            <a:srgbClr val="0C1C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932688"/>
            <a:ext cx="11185855" cy="42291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3000" b="0" i="0">
                <a:solidFill>
                  <a:srgbClr val="012A2C"/>
                </a:solidFill>
                <a:latin typeface="Financier Display"/>
              </a:rPr>
              <a:t>A compact European network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483614"/>
            <a:ext cx="11185855" cy="215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 b="0" i="0">
                <a:solidFill>
                  <a:srgbClr val="435254"/>
                </a:solidFill>
                <a:latin typeface="Calibre Light"/>
              </a:rPr>
              <a:t>Two currents: reshoring and contraction.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2138426"/>
            <a:ext cx="11185855" cy="329184"/>
          </a:xfrm>
          <a:prstGeom prst="rect">
            <a:avLst/>
          </a:prstGeom>
          <a:solidFill>
            <a:srgbClr val="80B8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12648" y="2138426"/>
            <a:ext cx="2577007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 spc="80">
                <a:solidFill>
                  <a:srgbClr val="012A2C"/>
                </a:solidFill>
                <a:latin typeface="Calibre Semibold"/>
              </a:rPr>
              <a:t>REGION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409111" y="2138426"/>
            <a:ext cx="2577007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 spc="80">
                <a:solidFill>
                  <a:srgbClr val="012A2C"/>
                </a:solidFill>
                <a:latin typeface="Calibre Semibold"/>
              </a:rPr>
              <a:t>SITE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05575" y="2138426"/>
            <a:ext cx="2577007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 spc="80">
                <a:solidFill>
                  <a:srgbClr val="012A2C"/>
                </a:solidFill>
                <a:latin typeface="Calibre Semibold"/>
              </a:rPr>
              <a:t>USE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02039" y="2138426"/>
            <a:ext cx="2577007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 spc="80">
                <a:solidFill>
                  <a:srgbClr val="012A2C"/>
                </a:solidFill>
                <a:latin typeface="Calibre Semibold"/>
              </a:rPr>
              <a:t>READ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502920" y="2467610"/>
            <a:ext cx="11185855" cy="0"/>
          </a:xfrm>
          <a:prstGeom prst="line">
            <a:avLst/>
          </a:prstGeom>
          <a:ln w="6350">
            <a:solidFill>
              <a:srgbClr val="D7DB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612648" y="2467610"/>
            <a:ext cx="2577007" cy="126534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 i="0">
                <a:solidFill>
                  <a:srgbClr val="435254"/>
                </a:solidFill>
                <a:latin typeface="Calibre Semibold"/>
              </a:rPr>
              <a:t>NL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09111" y="2467610"/>
            <a:ext cx="2577007" cy="126534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 i="0">
                <a:solidFill>
                  <a:srgbClr val="435254"/>
                </a:solidFill>
                <a:latin typeface="Calibre Light"/>
              </a:rPr>
              <a:t>Best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05575" y="2467610"/>
            <a:ext cx="2577007" cy="126534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 i="0">
                <a:solidFill>
                  <a:srgbClr val="435254"/>
                </a:solidFill>
                <a:latin typeface="Calibre Light"/>
              </a:rPr>
              <a:t>Imaging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002039" y="2467610"/>
            <a:ext cx="2577007" cy="126534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 i="0">
                <a:solidFill>
                  <a:srgbClr val="435254"/>
                </a:solidFill>
                <a:latin typeface="Calibre Light"/>
              </a:rPr>
              <a:t>Flagship, sticky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502920" y="3732953"/>
            <a:ext cx="11185855" cy="0"/>
          </a:xfrm>
          <a:prstGeom prst="line">
            <a:avLst/>
          </a:prstGeom>
          <a:ln w="6350">
            <a:solidFill>
              <a:srgbClr val="D7DB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612648" y="3732953"/>
            <a:ext cx="2577007" cy="126534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 i="0">
                <a:solidFill>
                  <a:srgbClr val="435254"/>
                </a:solidFill>
                <a:latin typeface="Calibre Semibold"/>
              </a:rPr>
              <a:t>DE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409111" y="3732953"/>
            <a:ext cx="2577007" cy="126534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 i="0">
                <a:solidFill>
                  <a:srgbClr val="435254"/>
                </a:solidFill>
                <a:latin typeface="Calibre Light"/>
              </a:rPr>
              <a:t>Hamburg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05575" y="3732953"/>
            <a:ext cx="2577007" cy="126534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 i="0">
                <a:solidFill>
                  <a:srgbClr val="435254"/>
                </a:solidFill>
                <a:latin typeface="Calibre Light"/>
              </a:rPr>
              <a:t>Tubes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002039" y="3732953"/>
            <a:ext cx="2577007" cy="126534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 i="0">
                <a:solidFill>
                  <a:srgbClr val="435254"/>
                </a:solidFill>
                <a:latin typeface="Calibre Light"/>
              </a:rPr>
              <a:t>Centre of excellence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502920" y="4998296"/>
            <a:ext cx="11185855" cy="0"/>
          </a:xfrm>
          <a:prstGeom prst="line">
            <a:avLst/>
          </a:prstGeom>
          <a:ln w="6350">
            <a:solidFill>
              <a:srgbClr val="D7DB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612648" y="4998296"/>
            <a:ext cx="2577007" cy="126534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 i="0">
                <a:solidFill>
                  <a:srgbClr val="435254"/>
                </a:solidFill>
                <a:latin typeface="Calibre Semibold"/>
              </a:rPr>
              <a:t>US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409111" y="4998296"/>
            <a:ext cx="2577007" cy="126534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 i="0">
                <a:solidFill>
                  <a:srgbClr val="435254"/>
                </a:solidFill>
                <a:latin typeface="Calibre Light"/>
              </a:rPr>
              <a:t>Reedsville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05575" y="4998296"/>
            <a:ext cx="2577007" cy="126534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 i="0">
                <a:solidFill>
                  <a:srgbClr val="435254"/>
                </a:solidFill>
                <a:latin typeface="Calibre Light"/>
              </a:rPr>
              <a:t>Ultrasound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002039" y="4998296"/>
            <a:ext cx="2577007" cy="126534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 i="0">
                <a:solidFill>
                  <a:srgbClr val="435254"/>
                </a:solidFill>
                <a:latin typeface="Calibre Light"/>
              </a:rPr>
              <a:t>Reshoring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502920" y="6263639"/>
            <a:ext cx="11185855" cy="0"/>
          </a:xfrm>
          <a:prstGeom prst="line">
            <a:avLst/>
          </a:prstGeom>
          <a:ln w="6350">
            <a:solidFill>
              <a:srgbClr val="D7DB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12A2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6537960"/>
            <a:ext cx="54864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538F86"/>
                </a:solidFill>
                <a:latin typeface="Calibre"/>
              </a:rPr>
              <a:t>Confidential &amp; Proprietary | (c) 2026 CBRE, Inc.</a:t>
            </a:r>
          </a:p>
        </p:txBody>
      </p:sp>
      <p:pic>
        <p:nvPicPr>
          <p:cNvPr id="3" name="Picture 2" descr="cbre-logo-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20095" y="6342230"/>
            <a:ext cx="960120" cy="24145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02920" y="457200"/>
            <a:ext cx="73152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 spc="150">
                <a:solidFill>
                  <a:srgbClr val="D8D898"/>
                </a:solidFill>
                <a:latin typeface="Calibre Semibold"/>
              </a:rPr>
              <a:t>04 | VOICE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786384"/>
            <a:ext cx="1508760" cy="16459"/>
          </a:xfrm>
          <a:prstGeom prst="rect">
            <a:avLst/>
          </a:prstGeom>
          <a:solidFill>
            <a:srgbClr val="D8D8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932688"/>
            <a:ext cx="11185855" cy="42291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3000" b="0" i="0">
                <a:solidFill>
                  <a:srgbClr val="FFFFFF"/>
                </a:solidFill>
                <a:latin typeface="Financier Display"/>
              </a:rPr>
              <a:t>What leadership says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794510"/>
            <a:ext cx="11185855" cy="21279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3000" b="0" i="0">
                <a:solidFill>
                  <a:srgbClr val="FFFFFF"/>
                </a:solidFill>
                <a:latin typeface="Financier Display"/>
              </a:rPr>
              <a:t>“We are consolidating to fewer, larger, better-connected nodes.”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3922449"/>
            <a:ext cx="1118585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 spc="150">
                <a:solidFill>
                  <a:srgbClr val="80B8A8"/>
                </a:solidFill>
                <a:latin typeface="Calibre Semibold"/>
              </a:rPr>
              <a:t>CFO, FY2025 CALL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4434513"/>
            <a:ext cx="11185855" cy="1829126"/>
          </a:xfrm>
          <a:prstGeom prst="rect">
            <a:avLst/>
          </a:prstGeom>
          <a:solidFill>
            <a:srgbClr val="003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02920" y="4434513"/>
            <a:ext cx="54864" cy="1829126"/>
          </a:xfrm>
          <a:prstGeom prst="rect">
            <a:avLst/>
          </a:prstGeom>
          <a:solidFill>
            <a:srgbClr val="80B8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4617393"/>
            <a:ext cx="8716975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 spc="200">
                <a:solidFill>
                  <a:srgbClr val="D8D898"/>
                </a:solidFill>
                <a:latin typeface="Calibre Semibold"/>
              </a:rPr>
              <a:t>CBRE VIEW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5001441"/>
            <a:ext cx="10682935" cy="107931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8000"/>
              </a:lnSpc>
            </a:pPr>
            <a:r>
              <a:rPr sz="1000" b="0" i="0">
                <a:solidFill>
                  <a:srgbClr val="FFFFFF"/>
                </a:solidFill>
                <a:latin typeface="Calibre Light"/>
              </a:rPr>
              <a:t>The opportunity is integration readiness and surplus release, not a speculative expansion pitch.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631375" y="4617393"/>
            <a:ext cx="1828800" cy="274320"/>
          </a:xfrm>
          <a:prstGeom prst="rect">
            <a:avLst/>
          </a:prstGeom>
          <a:solidFill>
            <a:srgbClr val="003828"/>
          </a:solidFill>
          <a:ln w="9525">
            <a:solidFill>
              <a:srgbClr val="D8D89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704527" y="4617393"/>
            <a:ext cx="1682496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1" i="0" spc="140">
                <a:solidFill>
                  <a:srgbClr val="D8D898"/>
                </a:solidFill>
                <a:latin typeface="Calibre Semibold"/>
              </a:rPr>
              <a:t>PRIORITY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6537960"/>
            <a:ext cx="54864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7F8481"/>
                </a:solidFill>
                <a:latin typeface="Calibre"/>
              </a:rPr>
              <a:t>Confidential &amp; Proprietary | (c) 2026 CBRE, Inc.</a:t>
            </a:r>
          </a:p>
        </p:txBody>
      </p:sp>
      <p:pic>
        <p:nvPicPr>
          <p:cNvPr id="3" name="Picture 2" descr="cbre-logo-gree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20095" y="6342230"/>
            <a:ext cx="960120" cy="24145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02920" y="457200"/>
            <a:ext cx="73152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 spc="150">
                <a:solidFill>
                  <a:srgbClr val="0C1C1E"/>
                </a:solidFill>
                <a:latin typeface="Calibre Semibold"/>
              </a:rPr>
              <a:t>05 | PRIORITIES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786384"/>
            <a:ext cx="1508760" cy="16459"/>
          </a:xfrm>
          <a:prstGeom prst="rect">
            <a:avLst/>
          </a:prstGeom>
          <a:solidFill>
            <a:srgbClr val="0C1C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932688"/>
            <a:ext cx="11185855" cy="42291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3000" b="0" i="0">
                <a:solidFill>
                  <a:srgbClr val="012A2C"/>
                </a:solidFill>
                <a:latin typeface="Financier Display"/>
              </a:rPr>
              <a:t>Where to focus first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794510"/>
            <a:ext cx="832104" cy="365760"/>
          </a:xfrm>
          <a:prstGeom prst="roundRect">
            <a:avLst/>
          </a:prstGeom>
          <a:solidFill>
            <a:srgbClr val="F7F7F5"/>
          </a:solidFill>
          <a:ln w="9525">
            <a:solidFill>
              <a:srgbClr val="D7DB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794510"/>
            <a:ext cx="832104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1" i="0">
                <a:solidFill>
                  <a:srgbClr val="012A2C"/>
                </a:solidFill>
                <a:latin typeface="Calibre Semibold"/>
              </a:rPr>
              <a:t>Poland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481328" y="1794510"/>
            <a:ext cx="918972" cy="365760"/>
          </a:xfrm>
          <a:prstGeom prst="roundRect">
            <a:avLst/>
          </a:prstGeom>
          <a:solidFill>
            <a:srgbClr val="F7F7F5"/>
          </a:solidFill>
          <a:ln w="9525">
            <a:solidFill>
              <a:srgbClr val="D7DB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481328" y="1794510"/>
            <a:ext cx="918972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1" i="0">
                <a:solidFill>
                  <a:srgbClr val="012A2C"/>
                </a:solidFill>
                <a:latin typeface="Calibre Semibold"/>
              </a:rPr>
              <a:t>Germany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546604" y="1794510"/>
            <a:ext cx="832104" cy="365760"/>
          </a:xfrm>
          <a:prstGeom prst="roundRect">
            <a:avLst/>
          </a:prstGeom>
          <a:solidFill>
            <a:srgbClr val="F7F7F5"/>
          </a:solidFill>
          <a:ln w="9525">
            <a:solidFill>
              <a:srgbClr val="D7DB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46604" y="1794510"/>
            <a:ext cx="832104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1" i="0">
                <a:solidFill>
                  <a:srgbClr val="012A2C"/>
                </a:solidFill>
                <a:latin typeface="Calibre Semibold"/>
              </a:rPr>
              <a:t>Iberia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525012" y="1794510"/>
            <a:ext cx="918972" cy="365760"/>
          </a:xfrm>
          <a:prstGeom prst="roundRect">
            <a:avLst/>
          </a:prstGeom>
          <a:solidFill>
            <a:srgbClr val="F7F7F5"/>
          </a:solidFill>
          <a:ln w="9525">
            <a:solidFill>
              <a:srgbClr val="D7DB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525012" y="1794510"/>
            <a:ext cx="918972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1" i="0">
                <a:solidFill>
                  <a:srgbClr val="012A2C"/>
                </a:solidFill>
                <a:latin typeface="Calibre Semibold"/>
              </a:rPr>
              <a:t>Nordics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90288" y="1794510"/>
            <a:ext cx="571500" cy="365760"/>
          </a:xfrm>
          <a:prstGeom prst="roundRect">
            <a:avLst/>
          </a:prstGeom>
          <a:solidFill>
            <a:srgbClr val="F7F7F5"/>
          </a:solidFill>
          <a:ln w="9525">
            <a:solidFill>
              <a:srgbClr val="D7DB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90288" y="1794510"/>
            <a:ext cx="5715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1" i="0">
                <a:solidFill>
                  <a:srgbClr val="012A2C"/>
                </a:solidFill>
                <a:latin typeface="Calibre Semibold"/>
              </a:rPr>
              <a:t>CEE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308092" y="1794510"/>
            <a:ext cx="832104" cy="365760"/>
          </a:xfrm>
          <a:prstGeom prst="roundRect">
            <a:avLst/>
          </a:prstGeom>
          <a:solidFill>
            <a:srgbClr val="F7F7F5"/>
          </a:solidFill>
          <a:ln w="9525">
            <a:solidFill>
              <a:srgbClr val="D7DB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308092" y="1794510"/>
            <a:ext cx="832104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1" i="0">
                <a:solidFill>
                  <a:srgbClr val="012A2C"/>
                </a:solidFill>
                <a:latin typeface="Calibre Semibold"/>
              </a:rPr>
              <a:t>France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2920" y="2621338"/>
            <a:ext cx="3375050" cy="27432"/>
          </a:xfrm>
          <a:prstGeom prst="rect">
            <a:avLst/>
          </a:prstGeom>
          <a:solidFill>
            <a:srgbClr val="80B8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2920" y="2694490"/>
            <a:ext cx="9144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80B8A8"/>
                </a:solidFill>
                <a:latin typeface="Calibre Semibold"/>
              </a:rPr>
              <a:t>01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3096826"/>
            <a:ext cx="3393338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300" b="1" i="0">
                <a:solidFill>
                  <a:srgbClr val="012A2C"/>
                </a:solidFill>
                <a:latin typeface="Calibre Semibold"/>
              </a:rPr>
              <a:t>Release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3700330"/>
            <a:ext cx="3393338" cy="8629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900" b="0" i="0">
                <a:solidFill>
                  <a:srgbClr val="435254"/>
                </a:solidFill>
                <a:latin typeface="Calibre Light"/>
              </a:rPr>
              <a:t>Dispose of surplus edge sites.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353458" y="2621338"/>
            <a:ext cx="3375050" cy="27432"/>
          </a:xfrm>
          <a:prstGeom prst="rect">
            <a:avLst/>
          </a:prstGeom>
          <a:solidFill>
            <a:srgbClr val="80B8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353458" y="2694490"/>
            <a:ext cx="9144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80B8A8"/>
                </a:solidFill>
                <a:latin typeface="Calibre Semibold"/>
              </a:rPr>
              <a:t>02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353458" y="3096826"/>
            <a:ext cx="3393338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300" b="1" i="0">
                <a:solidFill>
                  <a:srgbClr val="012A2C"/>
                </a:solidFill>
                <a:latin typeface="Calibre Semibold"/>
              </a:rPr>
              <a:t>Reuse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353458" y="3700330"/>
            <a:ext cx="3393338" cy="8629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900" b="0" i="0">
                <a:solidFill>
                  <a:srgbClr val="435254"/>
                </a:solidFill>
                <a:latin typeface="Calibre Light"/>
              </a:rPr>
              <a:t>Retrofit retained sites for energy.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203996" y="2621338"/>
            <a:ext cx="3375050" cy="27432"/>
          </a:xfrm>
          <a:prstGeom prst="rect">
            <a:avLst/>
          </a:prstGeom>
          <a:solidFill>
            <a:srgbClr val="80B8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203996" y="2694490"/>
            <a:ext cx="9144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80B8A8"/>
                </a:solidFill>
                <a:latin typeface="Calibre Semibold"/>
              </a:rPr>
              <a:t>03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03996" y="3096826"/>
            <a:ext cx="3393338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300" b="1" i="0">
                <a:solidFill>
                  <a:srgbClr val="012A2C"/>
                </a:solidFill>
                <a:latin typeface="Calibre Semibold"/>
              </a:rPr>
              <a:t>Redesign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03996" y="3700330"/>
            <a:ext cx="3393338" cy="8629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900" b="0" i="0">
                <a:solidFill>
                  <a:srgbClr val="435254"/>
                </a:solidFill>
                <a:latin typeface="Calibre Light"/>
              </a:rPr>
              <a:t>Plan the combined network.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02920" y="4855903"/>
            <a:ext cx="11185855" cy="1407736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02920" y="5376891"/>
            <a:ext cx="11185855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 i="0">
                <a:solidFill>
                  <a:srgbClr val="435254"/>
                </a:solidFill>
                <a:latin typeface="Calibre Light"/>
              </a:rPr>
              <a:t>network map placeholder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12A2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1097280"/>
            <a:ext cx="5029200" cy="457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0" b="0" i="0">
                <a:solidFill>
                  <a:srgbClr val="80B8A8"/>
                </a:solidFill>
                <a:latin typeface="Financier Display"/>
              </a:rPr>
              <a:t>02</a:t>
            </a:r>
          </a:p>
        </p:txBody>
      </p:sp>
      <p:sp>
        <p:nvSpPr>
          <p:cNvPr id="3" name="Rectangle 2"/>
          <p:cNvSpPr/>
          <p:nvPr/>
        </p:nvSpPr>
        <p:spPr>
          <a:xfrm>
            <a:off x="5760720" y="1280160"/>
            <a:ext cx="20116" cy="4754880"/>
          </a:xfrm>
          <a:prstGeom prst="rect">
            <a:avLst/>
          </a:prstGeom>
          <a:solidFill>
            <a:srgbClr val="D8D8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0" y="1188720"/>
            <a:ext cx="5669280" cy="1645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4600" b="0" i="0">
                <a:solidFill>
                  <a:srgbClr val="FFFFFF"/>
                </a:solidFill>
                <a:latin typeface="Financier Display"/>
              </a:rPr>
              <a:t>What it means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0" y="2971800"/>
            <a:ext cx="566928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400" b="0" i="0">
                <a:solidFill>
                  <a:srgbClr val="FFFFFF"/>
                </a:solidFill>
                <a:latin typeface="Calibre Light"/>
              </a:rPr>
              <a:t>From context to action.</a:t>
            </a:r>
          </a:p>
        </p:txBody>
      </p:sp>
      <p:sp>
        <p:nvSpPr>
          <p:cNvPr id="6" name="Rectangle 5"/>
          <p:cNvSpPr/>
          <p:nvPr/>
        </p:nvSpPr>
        <p:spPr>
          <a:xfrm>
            <a:off x="6126480" y="4206240"/>
            <a:ext cx="1097280" cy="16459"/>
          </a:xfrm>
          <a:prstGeom prst="rect">
            <a:avLst/>
          </a:prstGeom>
          <a:solidFill>
            <a:srgbClr val="D8D8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126480" y="4297679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 spc="220">
                <a:solidFill>
                  <a:srgbClr val="D8D898"/>
                </a:solidFill>
                <a:latin typeface="Calibre Semibold"/>
              </a:rPr>
              <a:t>IN THIS SECTION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26480" y="4709159"/>
            <a:ext cx="45720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80B8A8"/>
                </a:solidFill>
                <a:latin typeface="Space Mono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0" y="4709159"/>
            <a:ext cx="242316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1200" b="0" i="0">
                <a:solidFill>
                  <a:srgbClr val="FFFFFF"/>
                </a:solidFill>
                <a:latin typeface="Calibre Light"/>
              </a:rPr>
              <a:t>Release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052560" y="4709159"/>
            <a:ext cx="45720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80B8A8"/>
                </a:solidFill>
                <a:latin typeface="Space Mono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509760" y="4709159"/>
            <a:ext cx="242316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1200" b="0" i="0">
                <a:solidFill>
                  <a:srgbClr val="FFFFFF"/>
                </a:solidFill>
                <a:latin typeface="Calibre Light"/>
              </a:rPr>
              <a:t>Reuse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26480" y="5093207"/>
            <a:ext cx="45720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80B8A8"/>
                </a:solidFill>
                <a:latin typeface="Space Mono"/>
              </a:rPr>
              <a:t>03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0" y="5093207"/>
            <a:ext cx="242316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1200" b="0" i="0">
                <a:solidFill>
                  <a:srgbClr val="FFFFFF"/>
                </a:solidFill>
                <a:latin typeface="Calibre Light"/>
              </a:rPr>
              <a:t>Redesign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6537960"/>
            <a:ext cx="54864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538F86"/>
                </a:solidFill>
                <a:latin typeface="Calibre"/>
              </a:rPr>
              <a:t>Confidential &amp; Proprietary | (c) 2026 CBRE, Inc.</a:t>
            </a:r>
          </a:p>
        </p:txBody>
      </p:sp>
      <p:pic>
        <p:nvPicPr>
          <p:cNvPr id="15" name="Picture 14" descr="cbre-logo-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20095" y="6342230"/>
            <a:ext cx="960120" cy="24145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12A2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1463040"/>
            <a:ext cx="11185855" cy="2194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0" b="0" i="0">
                <a:solidFill>
                  <a:srgbClr val="FFFFFF"/>
                </a:solidFill>
                <a:latin typeface="Financier Display"/>
              </a:rPr>
              <a:t>Thank you.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4754880"/>
            <a:ext cx="10911535" cy="18288"/>
          </a:xfrm>
          <a:prstGeom prst="rect">
            <a:avLst/>
          </a:prstGeom>
          <a:solidFill>
            <a:srgbClr val="D8D8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4919472"/>
            <a:ext cx="1100297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FFFFFF"/>
                </a:solidFill>
                <a:latin typeface="Calibre Semibold"/>
              </a:rPr>
              <a:t>A. Advisor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349240"/>
            <a:ext cx="11002975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000" b="0" i="0">
                <a:solidFill>
                  <a:srgbClr val="FFFFFF"/>
                </a:solidFill>
                <a:latin typeface="Calibre Light"/>
              </a:rPr>
              <a:t>Director, I&amp;L</a:t>
            </a:r>
          </a:p>
          <a:p>
            <a:pPr algn="l">
              <a:lnSpc>
                <a:spcPct val="135000"/>
              </a:lnSpc>
            </a:pPr>
            <a:r>
              <a:rPr sz="1000" b="0" i="0">
                <a:solidFill>
                  <a:srgbClr val="FFFFFF"/>
                </a:solidFill>
                <a:latin typeface="Calibre Light"/>
              </a:rPr>
              <a:t>a.advisor@cbre.com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37960"/>
            <a:ext cx="54864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538F86"/>
                </a:solidFill>
                <a:latin typeface="Calibre"/>
              </a:rPr>
              <a:t>Confidential &amp; Proprietary | (c) 2026 CBRE, Inc.</a:t>
            </a:r>
          </a:p>
        </p:txBody>
      </p:sp>
      <p:pic>
        <p:nvPicPr>
          <p:cNvPr id="7" name="Picture 6" descr="cbre-logo-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20095" y="6342230"/>
            <a:ext cx="960120" cy="24145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